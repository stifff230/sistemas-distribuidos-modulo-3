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8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· SISTEMAS DISTRIBUIDOS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sincronizar en sistemas distribuidos?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memoria compartida ni reloj global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130552"/>
            <a:ext cx="457200" cy="457200"/>
          </a:xfrm>
          <a:prstGeom prst="ellipse">
            <a:avLst/>
          </a:prstGeom>
          <a:solidFill>
            <a:srgbClr val="3D8DF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2743200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memoria compartida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3172968"/>
            <a:ext cx="3008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procesos en máquinas distintas no pueden leer/escribir la misma variable. Toda coordinación pasa por mensajes de red, con retardo variable y sin garantía de orden de llegada.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18745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45152" y="2130552"/>
            <a:ext cx="457200" cy="457200"/>
          </a:xfrm>
          <a:prstGeom prst="ellipse">
            <a:avLst/>
          </a:prstGeom>
          <a:solidFill>
            <a:srgbClr val="2E9D72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2743200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reloj global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45152" y="3172968"/>
            <a:ext cx="3008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máquina deriva (drift) su reloj de hardware a su propio ritmo. “Al mismo tiempo” no tiene un significado único cuando no hay una referencia temporal compartida.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0" y="18745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7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85632" y="2130552"/>
            <a:ext cx="457200" cy="457200"/>
          </a:xfrm>
          <a:prstGeom prst="ellipse">
            <a:avLst/>
          </a:prstGeom>
          <a:solidFill>
            <a:srgbClr val="C77E00"/>
          </a:solidFill>
          <a:ln/>
        </p:spPr>
      </p:sp>
      <p:sp>
        <p:nvSpPr>
          <p:cNvPr id="17" name="Text 15"/>
          <p:cNvSpPr/>
          <p:nvPr/>
        </p:nvSpPr>
        <p:spPr>
          <a:xfrm>
            <a:off x="8485632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85632" y="2743200"/>
            <a:ext cx="3008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 si se ignora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85632" y="3172968"/>
            <a:ext cx="3008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Condiciones de carrera sobre estado compartido, mensajes procesados fuera de orden, y decisiones tomadas con información obsoleta o contradictoria.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11201400" cy="1417320"/>
          </a:xfrm>
          <a:prstGeom prst="roundRect">
            <a:avLst>
              <a:gd name="adj" fmla="val 5161"/>
            </a:avLst>
          </a:prstGeom>
          <a:solidFill>
            <a:srgbClr val="0E2438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709160"/>
            <a:ext cx="10561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servidor del laboratorio: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BD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(mapa de usuarios conectados) y sequence (número de orden de cada mensaje) son tocados por 4 hilos worker distintos, en paralelo, cada vez que dos clientes hablan al mismo tiempo. Sin sincronización, ese estado se corrompe.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04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8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TIPOLOGÍAS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escalas de sincronización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nodos que no comparten memoria, y entre hilos que sí la comparten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733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3D8DFF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194560"/>
            <a:ext cx="5349240" cy="365760"/>
          </a:xfrm>
          <a:prstGeom prst="rect">
            <a:avLst/>
          </a:prstGeom>
          <a:solidFill>
            <a:srgbClr val="3D8D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nodos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203704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memoria compartida — coordinación por red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743200"/>
            <a:ext cx="4800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Relojes físicos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Cristian, Berkeley, NTP — acercan la hora de cada máquina.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511296"/>
            <a:ext cx="4800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Relojes lógicos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Lamport, vectoriales — ordenan eventos sin usar hora real.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4279392"/>
            <a:ext cx="4800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Exclusión mutua distribuida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Centralizado, Ricart-Agrawala, anillo con testigo.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5047488"/>
            <a:ext cx="4800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Elección de coordinador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Bully (matón), anillo — eligen un nodo líder.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63640" y="178308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101600" dist="38100" dir="5400000">
              <a:srgbClr val="1B2733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63640" y="178308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2E9D7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63640" y="2194560"/>
            <a:ext cx="5349240" cy="365760"/>
          </a:xfrm>
          <a:prstGeom prst="rect">
            <a:avLst/>
          </a:prstGeom>
          <a:solidFill>
            <a:srgbClr val="2E9D72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 un proceso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2203704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memoria compartida — concurrencia local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37960" y="2743200"/>
            <a:ext cx="4800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Mutex / Lock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hilo a la vez en la sección crítica (synchronized, ReentrantLock).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3511296"/>
            <a:ext cx="4800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Semáforos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Permiten hasta N accesos simultáneos a un recurso.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37960" y="4279392"/>
            <a:ext cx="4800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y variables de condición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Exclusión + espera hasta que una condición cambie.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7960" y="5047488"/>
            <a:ext cx="4800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Atómicos (CAS) y colas bloqueantes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sin lock explícito o vía productor-consumidor.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60807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EAF1FB"/>
          </a:solidFill>
          <a:ln w="12700">
            <a:solidFill>
              <a:srgbClr val="DCE4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6080760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servidor del laboratorio </a:t>
            </a:r>
            <a:pPr indent="0" marL="0">
              <a:buNone/>
            </a:pPr>
            <a:r>
              <a:rPr lang="en-US" sz="12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pertenece a la segunda escala: 5 hilos del sistema operativo (1 selector + 4 workers) comparten memoria dentro del mismo proceso Java.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8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CUADRO COMPARATIVO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de sincronización de hilos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coordinan hilos; se diferencian en cómo esperan y qué protegen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657600"/>
                <a:gridCol w="2103120"/>
                <a:gridCol w="2560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de bloqueo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4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en el laboratorio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4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E24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Mutex / synchronized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Bloqueante — un hilo dueño a la vez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hilo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E24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Semáforo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Bloqueante — contador de permisos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hilos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E24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 (wait/notify)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Bloqueante — exclusión + espera por condición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hilo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E24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Read-Write 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Bloqueante — exclusivo solo entre escritores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lectores o 1 escritor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E24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Barrera / Latch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Bloqueante — espera a que todos lleguen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Ninguno hasta reunir a todos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24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Atómico / CAS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bloqueante — reintenta compare-and-swap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Todos, sin esperar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9D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ClientSession.scheduled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24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BlockingQueue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Bloqueante en take() — productor/consumidor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productor, N consumidores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9D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ChatServer.taskQueue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24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★ ReentrantLock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Bloqueante, explícito — lock()/unlock() en try/finally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9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hilo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9D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ServerDispatcher.sessionsLock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235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E2438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5788152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principal: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BD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ReentrantLock protege sessions (mapa de usuarios) y sequence en ServerDispatcher. Se combina con BlockingQueue (reparto de tareas) y CAS (una entrada por cliente) dentro del mismo WorkerPool.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8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· SINCRONIZACIÓN COMO EL CORE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ChatActivityTracker + PresenceMonitor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segundo hilo real cuyo único propósito es sincronizar sobre el chat grupal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1031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733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74520"/>
            <a:ext cx="2103120" cy="365760"/>
          </a:xfrm>
          <a:prstGeom prst="roundRect">
            <a:avLst>
              <a:gd name="adj" fmla="val 20000"/>
            </a:avLst>
          </a:prstGeom>
          <a:solidFill>
            <a:srgbClr val="3D8DFF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057400"/>
            <a:ext cx="2103120" cy="182880"/>
          </a:xfrm>
          <a:prstGeom prst="rect">
            <a:avLst/>
          </a:prstGeom>
          <a:solidFill>
            <a:srgbClr val="3D8DFF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874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workers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31343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Procesan mensajes de clientes distintos en paralelo.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063240" y="1874520"/>
            <a:ext cx="28346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733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63240" y="1874520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0E2438"/>
          </a:solidFill>
          <a:ln/>
        </p:spPr>
      </p:sp>
      <p:sp>
        <p:nvSpPr>
          <p:cNvPr id="12" name="Shape 10"/>
          <p:cNvSpPr/>
          <p:nvPr/>
        </p:nvSpPr>
        <p:spPr>
          <a:xfrm>
            <a:off x="3063240" y="2057400"/>
            <a:ext cx="2834640" cy="182880"/>
          </a:xfrm>
          <a:prstGeom prst="rect">
            <a:avLst/>
          </a:prstGeom>
          <a:solidFill>
            <a:srgbClr val="0E243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1874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ChatActivityTracker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ReentrantLock
</a:t>
            </a:r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Map&lt;usuario, últimaVezQueHabló&gt;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09360" y="1874520"/>
            <a:ext cx="22860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733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1874520"/>
            <a:ext cx="2286000" cy="365760"/>
          </a:xfrm>
          <a:prstGeom prst="roundRect">
            <a:avLst>
              <a:gd name="adj" fmla="val 20000"/>
            </a:avLst>
          </a:prstGeom>
          <a:solidFill>
            <a:srgbClr val="C77E0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0" y="2057400"/>
            <a:ext cx="2286000" cy="182880"/>
          </a:xfrm>
          <a:prstGeom prst="rect">
            <a:avLst/>
          </a:prstGeom>
          <a:solidFill>
            <a:srgbClr val="C77E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1874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PresenceMonitor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23134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 daemon. Cada 20 s revisa quién lleva 20 s en silencio.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06840" y="187452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733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06840" y="1874520"/>
            <a:ext cx="2240280" cy="365760"/>
          </a:xfrm>
          <a:prstGeom prst="roundRect">
            <a:avLst>
              <a:gd name="adj" fmla="val 20000"/>
            </a:avLst>
          </a:prstGeom>
          <a:solidFill>
            <a:srgbClr val="2E9D72"/>
          </a:solidFill>
          <a:ln/>
        </p:spPr>
      </p:sp>
      <p:sp>
        <p:nvSpPr>
          <p:cNvPr id="22" name="Shape 20"/>
          <p:cNvSpPr/>
          <p:nvPr/>
        </p:nvSpPr>
        <p:spPr>
          <a:xfrm>
            <a:off x="9006840" y="2057400"/>
            <a:ext cx="2240280" cy="182880"/>
          </a:xfrm>
          <a:prstGeom prst="rect">
            <a:avLst/>
          </a:prstGeom>
          <a:solidFill>
            <a:srgbClr val="2E9D72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0" y="18745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grupal (Selector)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0" y="2313432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el aviso de inactividad como un mensaje más.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06624" y="2468880"/>
            <a:ext cx="301752" cy="0"/>
          </a:xfrm>
          <a:prstGeom prst="line">
            <a:avLst/>
          </a:prstGeom>
          <a:noFill/>
          <a:ln w="25400">
            <a:solidFill>
              <a:srgbClr val="3D8DF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952744" y="2468880"/>
            <a:ext cx="301752" cy="0"/>
          </a:xfrm>
          <a:prstGeom prst="line">
            <a:avLst/>
          </a:prstGeom>
          <a:noFill/>
          <a:ln w="25400">
            <a:solidFill>
              <a:srgbClr val="C77E0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650224" y="2468880"/>
            <a:ext cx="301752" cy="0"/>
          </a:xfrm>
          <a:prstGeom prst="line">
            <a:avLst/>
          </a:prstGeom>
          <a:noFill/>
          <a:ln w="25400">
            <a:solidFill>
              <a:srgbClr val="2E9D7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548640" y="31546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D8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recordActivity(usuario)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063240" y="31546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C77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consulta cada 20 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309360" y="31546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2E9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pendingNotices + wakeup()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352044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EAF1FB"/>
          </a:solidFill>
          <a:ln w="12700">
            <a:solidFill>
              <a:srgbClr val="DCE4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hilo selector es quien arma y envía el mensaje final: sólo él toca el socket, incluso para este aviso.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425196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733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04672" y="4489704"/>
            <a:ext cx="329184" cy="329184"/>
          </a:xfrm>
          <a:prstGeom prst="ellipse">
            <a:avLst/>
          </a:prstGeom>
          <a:solidFill>
            <a:srgbClr val="3D8DFF"/>
          </a:solidFill>
          <a:ln/>
        </p:spPr>
      </p:sp>
      <p:sp>
        <p:nvSpPr>
          <p:cNvPr id="35" name="Text 33"/>
          <p:cNvSpPr/>
          <p:nvPr/>
        </p:nvSpPr>
        <p:spPr>
          <a:xfrm>
            <a:off x="1280160" y="4434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ReentrantLock explícito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41248" y="49834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lock() / unlock() en try/finally sobre lastSpokeAtMillis, tocado por los workers y por PresenceMonitor a la vez.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89120" y="425196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733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645152" y="4489704"/>
            <a:ext cx="329184" cy="329184"/>
          </a:xfrm>
          <a:prstGeom prst="ellipse">
            <a:avLst/>
          </a:prstGeom>
          <a:solidFill>
            <a:srgbClr val="C77E00"/>
          </a:solidFill>
          <a:ln/>
        </p:spPr>
      </p:sp>
      <p:sp>
        <p:nvSpPr>
          <p:cNvPr id="39" name="Text 37"/>
          <p:cNvSpPr/>
          <p:nvPr/>
        </p:nvSpPr>
        <p:spPr>
          <a:xfrm>
            <a:off x="5120640" y="4434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 dedicado a sincronizar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4681728" y="49834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PresenceMonitor no atiende sockets ni lógica de negocio: su única razón de existir es leer ese estado compartido.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8229600" y="425196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CE4EE"/>
            </a:solidFill>
            <a:prstDash val="solid"/>
          </a:ln>
          <a:effectLst>
            <a:outerShdw sx="100000" sy="100000" kx="0" ky="0" algn="bl" rotWithShape="0" blurRad="76200" dist="25400" dir="5400000">
              <a:srgbClr val="1B2733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485632" y="4489704"/>
            <a:ext cx="329184" cy="329184"/>
          </a:xfrm>
          <a:prstGeom prst="ellipse">
            <a:avLst/>
          </a:prstGeom>
          <a:solidFill>
            <a:srgbClr val="2E9D72"/>
          </a:solidFill>
          <a:ln/>
        </p:spPr>
      </p:sp>
      <p:sp>
        <p:nvSpPr>
          <p:cNvPr id="43" name="Text 41"/>
          <p:cNvSpPr/>
          <p:nvPr/>
        </p:nvSpPr>
        <p:spPr>
          <a:xfrm>
            <a:off x="8961120" y="4434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Sincronización dentro del chat real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522208" y="49834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aviso de inactividad se publica DENTRO del chat grupal — no en una consola ni un canal aparte.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2026-08-11T05:48:56Z</dcterms:created>
  <dcterms:modified xsi:type="dcterms:W3CDTF">2026-08-11T05:48:56Z</dcterms:modified>
</cp:coreProperties>
</file>