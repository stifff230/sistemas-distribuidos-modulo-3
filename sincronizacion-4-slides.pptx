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8178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 · SISTEMAS DISTRIBUIDOS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sincronizar en sistemas distribuidos?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memoria compartida ni reloj global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blurRad="101600" dist="381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804672" y="2130552"/>
            <a:ext cx="457200" cy="457200"/>
          </a:xfrm>
          <a:prstGeom prst="ellipse">
            <a:avLst/>
          </a:prstGeom>
          <a:solidFill>
            <a:srgbClr val="3D8D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04672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4672" y="274320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memoria compartida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3172968"/>
            <a:ext cx="3008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procesos en máquinas distintas no pueden leer/escribir la misma variable. Toda coordinación pasa por mensajes de red, con retardo variable y sin garantía de orden de llegada.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87452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blurRad="101600" dist="381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4645152" y="2130552"/>
            <a:ext cx="457200" cy="457200"/>
          </a:xfrm>
          <a:prstGeom prst="ellipse">
            <a:avLst/>
          </a:prstGeom>
          <a:solidFill>
            <a:srgbClr val="2E9D7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645152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45152" y="274320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reloj global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45152" y="3172968"/>
            <a:ext cx="3008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máquina deriva (drift) su reloj de hardware a su propio ritmo. “Al mismo tiempo” no tiene un significado único cuando no hay una referencia temporal compartida.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0" y="187452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blurRad="101600" dist="381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8485632" y="2130552"/>
            <a:ext cx="457200" cy="457200"/>
          </a:xfrm>
          <a:prstGeom prst="ellipse">
            <a:avLst/>
          </a:prstGeom>
          <a:solidFill>
            <a:srgbClr val="C77E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8485632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85632" y="274320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 si se ignora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85632" y="3172968"/>
            <a:ext cx="3008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Condiciones de carrera sobre estado compartido, mensajes procesados fuera de orden, y decisiones tomadas con información obsoleta o contradictoria.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526280"/>
            <a:ext cx="11201400" cy="1417320"/>
          </a:xfrm>
          <a:prstGeom prst="roundRect">
            <a:avLst>
              <a:gd name="adj" fmla="val 5161"/>
            </a:avLst>
          </a:prstGeom>
          <a:solidFill>
            <a:srgbClr val="0E243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868680" y="4709160"/>
            <a:ext cx="10561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servidor del laboratorio:  </a:t>
            </a:r>
            <a:r>
              <a:rPr lang="en-US" sz="135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(mapa de usuarios conectados) y sequence (número de orden de cada mensaje) son tocados por 4 hilos worker distintos, en paralelo, cada vez que dos clientes hablan al mismo tiempo. Sin sincronización, ese estado se corrompe.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TIPOLOGÍAS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escalas de sincronización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nodos que no comparten memoria, y entre hilos que sí la comparten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blurRad="101600" dist="38100" dir="5400000" algn="bl" rotWithShape="0">
              <a:srgbClr val="1B2733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3D8D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349240" cy="365760"/>
          </a:xfrm>
          <a:prstGeom prst="rect">
            <a:avLst/>
          </a:prstGeom>
          <a:solidFill>
            <a:srgbClr val="3D8D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822960" y="18745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nodos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203704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memoria compartida — coordinación por red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743200"/>
            <a:ext cx="4800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Relojes físicos
</a:t>
            </a: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Cristian, Berkeley, NTP — acercan la hora de cada máquina.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511296"/>
            <a:ext cx="4800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Relojes lógicos
</a:t>
            </a: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Lamport, vectoriales — ordenan eventos sin usar hora real.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279392"/>
            <a:ext cx="4800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Exclusión mutua distribuida
</a:t>
            </a: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Centralizado, Ricart-Agrawala, anillo con testigo.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047488"/>
            <a:ext cx="4800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Elección de coordinador
</a:t>
            </a: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Bully (matón), anillo — eligen un nodo líder.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178308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blurRad="101600" dist="38100" dir="5400000" algn="bl" rotWithShape="0">
              <a:srgbClr val="1B2733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6263640" y="178308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2E9D7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6263640" y="2194560"/>
            <a:ext cx="5349240" cy="365760"/>
          </a:xfrm>
          <a:prstGeom prst="rect">
            <a:avLst/>
          </a:prstGeom>
          <a:solidFill>
            <a:srgbClr val="2E9D7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6537960" y="18745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 un proceso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37960" y="2203704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memoria compartida — concurrencia local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37960" y="2743200"/>
            <a:ext cx="4800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Mutex / Lock
</a:t>
            </a: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hilo a la vez en la sección crítica (synchronized, ReentrantLock).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37960" y="3511296"/>
            <a:ext cx="4800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Semáforos
</a:t>
            </a: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Permiten hasta N accesos simultáneos a un recurso.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37960" y="4279392"/>
            <a:ext cx="4800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Monitores y variables de condición
</a:t>
            </a: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Exclusión + espera hasta que una condición cambie.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37960" y="5047488"/>
            <a:ext cx="4800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Atómicos (CAS) y colas bloqueantes
</a:t>
            </a: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sin lock explícito o vía productor-consumidor.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608076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EAF1FB"/>
          </a:solidFill>
          <a:ln w="1270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777240" y="608076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servidor del laboratorio </a:t>
            </a:r>
            <a:r>
              <a:rPr lang="en-US" sz="12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pertenece a la segunda escala: 5 hilos del sistema operativo (1 selector + 4 workers) comparten memoria dentro del mismo proceso Java.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CUADRO COMPARATIVO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de sincronización de hilos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coordinan hilos; se diferencian en cómo esperan y qué protegen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345643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Técnica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Mecanismo de bloqueo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Concurrencia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en el laboratorio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4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E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Mutex / synchronized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Bloqueante — un hilo dueño a la vez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hilo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E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Semáforo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Bloqueante — contador de permisos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hilos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E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 (wait/notify)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Bloqueante — exclusión + espera por condición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hilo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E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Read-Write Lock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Bloqueante — exclusivo solo entre escritores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lectores o 1 escritor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E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Barrera / Latch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Bloqueante — espera a que todos lleguen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Ninguno hasta reunir a todos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E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Atómico / CAS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bloqueante — reintenta compare-and-swap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Todos, sin esperar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9D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ClientSession.scheduled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E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BlockingQueue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Bloqueante en take() — productor/consumidor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productor, N consumidores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9D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ChatServer.taskQueue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E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ReentrantLock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Bloqueante, explícito — lock()/unlock() en try/finally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6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hilo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9D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ServerDispatcher.sessionsLock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6235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0E243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868680" y="578815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principal: </a:t>
            </a:r>
            <a:r>
              <a:rPr lang="en-US" sz="125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ReentrantLock protege sessions (mapa de usuarios) y sequence en ServerDispatcher. Se combina con BlockingQueue (reparto de tareas) y CAS (una entrada por cliente) dentro del mismo WorkerPool.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· SINCRONIZACIÓN COMO EL CORE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ChatActivityTracker + PresenceMonitor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segundo hilo real cuyo único propósito es sincronizar sobre el chat grupal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1031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blurRad="76200" dist="25400" dir="5400000" algn="bl" rotWithShape="0">
              <a:srgbClr val="1B2733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3D8D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2103120" cy="182880"/>
          </a:xfrm>
          <a:prstGeom prst="rect">
            <a:avLst/>
          </a:prstGeom>
          <a:solidFill>
            <a:srgbClr val="3D8D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workers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31343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Procesan mensajes de clientes distintos en paralelo.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063240" y="1874520"/>
            <a:ext cx="28346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blurRad="76200" dist="25400" dir="5400000" algn="bl" rotWithShape="0">
              <a:srgbClr val="1B2733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3063240" y="1874520"/>
            <a:ext cx="2834640" cy="365760"/>
          </a:xfrm>
          <a:prstGeom prst="roundRect">
            <a:avLst>
              <a:gd name="adj" fmla="val 20000"/>
            </a:avLst>
          </a:prstGeom>
          <a:solidFill>
            <a:srgbClr val="0E243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3063240" y="2057400"/>
            <a:ext cx="2834640" cy="182880"/>
          </a:xfrm>
          <a:prstGeom prst="rect">
            <a:avLst/>
          </a:prstGeom>
          <a:solidFill>
            <a:srgbClr val="0E243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3200400" y="1874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ChatActivityTracker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231343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ReentrantLock
</a:t>
            </a:r>
            <a:r>
              <a:rPr lang="en-US" sz="9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Map&lt;usuario, últimaVezQueHabló&gt;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09360" y="187452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blurRad="76200" dist="25400" dir="5400000" algn="bl" rotWithShape="0">
              <a:srgbClr val="1B2733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6309360" y="1874520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C77E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6309360" y="2057400"/>
            <a:ext cx="2286000" cy="182880"/>
          </a:xfrm>
          <a:prstGeom prst="rect">
            <a:avLst/>
          </a:prstGeom>
          <a:solidFill>
            <a:srgbClr val="C77E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446520" y="1874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PresenceMonitor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46520" y="231343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Hilo daemon. Cada 20 s revisa quién lleva 20 s en silencio.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06840" y="1874520"/>
            <a:ext cx="22402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blurRad="76200" dist="25400" dir="5400000" algn="bl" rotWithShape="0">
              <a:srgbClr val="1B2733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9006840" y="1874520"/>
            <a:ext cx="2240280" cy="365760"/>
          </a:xfrm>
          <a:prstGeom prst="roundRect">
            <a:avLst>
              <a:gd name="adj" fmla="val 20000"/>
            </a:avLst>
          </a:prstGeom>
          <a:solidFill>
            <a:srgbClr val="2E9D7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9006840" y="2057400"/>
            <a:ext cx="2240280" cy="182880"/>
          </a:xfrm>
          <a:prstGeom prst="rect">
            <a:avLst/>
          </a:prstGeom>
          <a:solidFill>
            <a:srgbClr val="2E9D7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9144000" y="18745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grupal (Selector)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0" y="231343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el aviso de inactividad como un mensaje más.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06624" y="2468880"/>
            <a:ext cx="301752" cy="0"/>
          </a:xfrm>
          <a:prstGeom prst="line">
            <a:avLst/>
          </a:prstGeom>
          <a:noFill/>
          <a:ln w="25400">
            <a:solidFill>
              <a:srgbClr val="3D8DFF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5952744" y="2468880"/>
            <a:ext cx="301752" cy="0"/>
          </a:xfrm>
          <a:prstGeom prst="line">
            <a:avLst/>
          </a:prstGeom>
          <a:noFill/>
          <a:ln w="25400">
            <a:solidFill>
              <a:srgbClr val="C77E00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8650224" y="2468880"/>
            <a:ext cx="301752" cy="0"/>
          </a:xfrm>
          <a:prstGeom prst="line">
            <a:avLst/>
          </a:prstGeom>
          <a:noFill/>
          <a:ln w="25400">
            <a:solidFill>
              <a:srgbClr val="2E9D72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548640" y="31546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3D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recordActivity(usuario)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063240" y="31546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C77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consulta cada 20 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309360" y="31546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2E9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pendingNotices + wakeup()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352044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EAF1FB"/>
          </a:solidFill>
          <a:ln w="1270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777240" y="3520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hilo selector es quien arma y envía el mensaje final: sólo él toca el socket, incluso para este aviso.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425196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blurRad="76200" dist="25400" dir="5400000" algn="bl" rotWithShape="0">
              <a:srgbClr val="1B2733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4" name="Shape 32"/>
          <p:cNvSpPr/>
          <p:nvPr/>
        </p:nvSpPr>
        <p:spPr>
          <a:xfrm>
            <a:off x="804672" y="4489704"/>
            <a:ext cx="329184" cy="329184"/>
          </a:xfrm>
          <a:prstGeom prst="ellipse">
            <a:avLst/>
          </a:prstGeom>
          <a:solidFill>
            <a:srgbClr val="3D8D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1280160" y="4434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ReentrantLock explícito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41248" y="49834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lock() / unlock() en try/finally sobre lastSpokeAtMillis, tocado por los workers y por PresenceMonitor a la vez.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389120" y="425196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blurRad="76200" dist="25400" dir="5400000" algn="bl" rotWithShape="0">
              <a:srgbClr val="1B2733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8" name="Shape 36"/>
          <p:cNvSpPr/>
          <p:nvPr/>
        </p:nvSpPr>
        <p:spPr>
          <a:xfrm>
            <a:off x="4645152" y="4489704"/>
            <a:ext cx="329184" cy="329184"/>
          </a:xfrm>
          <a:prstGeom prst="ellipse">
            <a:avLst/>
          </a:prstGeom>
          <a:solidFill>
            <a:srgbClr val="C77E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9" name="Text 37"/>
          <p:cNvSpPr/>
          <p:nvPr/>
        </p:nvSpPr>
        <p:spPr>
          <a:xfrm>
            <a:off x="5120640" y="4434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Hilo dedicado a sincronizar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681728" y="49834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PresenceMonitor no atiende sockets ni lógica de negocio: su única razón de existir es leer ese estado compartido.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8229600" y="425196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blurRad="76200" dist="25400" dir="5400000" algn="bl" rotWithShape="0">
              <a:srgbClr val="1B2733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2" name="Shape 40"/>
          <p:cNvSpPr/>
          <p:nvPr/>
        </p:nvSpPr>
        <p:spPr>
          <a:xfrm>
            <a:off x="8485632" y="4489704"/>
            <a:ext cx="329184" cy="329184"/>
          </a:xfrm>
          <a:prstGeom prst="ellipse">
            <a:avLst/>
          </a:prstGeom>
          <a:solidFill>
            <a:srgbClr val="2E9D7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/>
          <p:nvPr/>
        </p:nvSpPr>
        <p:spPr>
          <a:xfrm>
            <a:off x="8961120" y="4434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 dentro del chat real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522208" y="49834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aviso de inactividad se publica DENTRO del chat grupal — no en una consola ni un canal aparte.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744</Words>
  <Application>Microsoft Macintosh PowerPoint</Application>
  <PresentationFormat>Panorámica</PresentationFormat>
  <Paragraphs>98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Nestor Stiven Pabon Florez</cp:lastModifiedBy>
  <cp:revision>1</cp:revision>
  <dcterms:created xsi:type="dcterms:W3CDTF">2026-08-11T05:48:56Z</dcterms:created>
  <dcterms:modified xsi:type="dcterms:W3CDTF">2026-08-11T05:55:47Z</dcterms:modified>
</cp:coreProperties>
</file>